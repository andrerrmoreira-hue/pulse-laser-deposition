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21388388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8" autoAdjust="0"/>
  </p:normalViewPr>
  <p:slideViewPr>
    <p:cSldViewPr snapToGrid="0">
      <p:cViewPr>
        <p:scale>
          <a:sx n="50" d="100"/>
          <a:sy n="50" d="100"/>
        </p:scale>
        <p:origin x="490" y="-6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9A373-7A51-431F-B7DA-720F54C9C52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F7C36-6087-44DB-8CBF-7D31C4A29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51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F7C36-6087-44DB-8CBF-7D31C4A291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40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129" y="4954765"/>
            <a:ext cx="18180130" cy="10540259"/>
          </a:xfrm>
        </p:spPr>
        <p:txBody>
          <a:bodyPr anchor="b"/>
          <a:lstStyle>
            <a:lvl1pPr algn="ctr">
              <a:defRPr sz="1403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3549" y="15901497"/>
            <a:ext cx="16041291" cy="7309499"/>
          </a:xfrm>
        </p:spPr>
        <p:txBody>
          <a:bodyPr/>
          <a:lstStyle>
            <a:lvl1pPr marL="0" indent="0" algn="ctr">
              <a:buNone/>
              <a:defRPr sz="5614"/>
            </a:lvl1pPr>
            <a:lvl2pPr marL="1069437" indent="0" algn="ctr">
              <a:buNone/>
              <a:defRPr sz="4678"/>
            </a:lvl2pPr>
            <a:lvl3pPr marL="2138873" indent="0" algn="ctr">
              <a:buNone/>
              <a:defRPr sz="4210"/>
            </a:lvl3pPr>
            <a:lvl4pPr marL="3208310" indent="0" algn="ctr">
              <a:buNone/>
              <a:defRPr sz="3743"/>
            </a:lvl4pPr>
            <a:lvl5pPr marL="4277746" indent="0" algn="ctr">
              <a:buNone/>
              <a:defRPr sz="3743"/>
            </a:lvl5pPr>
            <a:lvl6pPr marL="5347183" indent="0" algn="ctr">
              <a:buNone/>
              <a:defRPr sz="3743"/>
            </a:lvl6pPr>
            <a:lvl7pPr marL="6416619" indent="0" algn="ctr">
              <a:buNone/>
              <a:defRPr sz="3743"/>
            </a:lvl7pPr>
            <a:lvl8pPr marL="7486056" indent="0" algn="ctr">
              <a:buNone/>
              <a:defRPr sz="3743"/>
            </a:lvl8pPr>
            <a:lvl9pPr marL="8555492" indent="0" algn="ctr">
              <a:buNone/>
              <a:defRPr sz="374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D03E-37BB-47AB-85AE-0A6BBF2FBF05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53A8-CF18-4382-80AA-1B93AA3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12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D03E-37BB-47AB-85AE-0A6BBF2FBF05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53A8-CF18-4382-80AA-1B93AA3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95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9313" y="7547788"/>
            <a:ext cx="18447485" cy="12593645"/>
          </a:xfrm>
        </p:spPr>
        <p:txBody>
          <a:bodyPr anchor="b"/>
          <a:lstStyle>
            <a:lvl1pPr>
              <a:defRPr sz="1403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9313" y="20260574"/>
            <a:ext cx="18447485" cy="6622701"/>
          </a:xfrm>
        </p:spPr>
        <p:txBody>
          <a:bodyPr/>
          <a:lstStyle>
            <a:lvl1pPr marL="0" indent="0">
              <a:buNone/>
              <a:defRPr sz="5614">
                <a:solidFill>
                  <a:schemeClr val="tx1">
                    <a:tint val="82000"/>
                  </a:schemeClr>
                </a:solidFill>
              </a:defRPr>
            </a:lvl1pPr>
            <a:lvl2pPr marL="1069437" indent="0">
              <a:buNone/>
              <a:defRPr sz="4678">
                <a:solidFill>
                  <a:schemeClr val="tx1">
                    <a:tint val="82000"/>
                  </a:schemeClr>
                </a:solidFill>
              </a:defRPr>
            </a:lvl2pPr>
            <a:lvl3pPr marL="2138873" indent="0">
              <a:buNone/>
              <a:defRPr sz="4210">
                <a:solidFill>
                  <a:schemeClr val="tx1">
                    <a:tint val="82000"/>
                  </a:schemeClr>
                </a:solidFill>
              </a:defRPr>
            </a:lvl3pPr>
            <a:lvl4pPr marL="3208310" indent="0">
              <a:buNone/>
              <a:defRPr sz="3743">
                <a:solidFill>
                  <a:schemeClr val="tx1">
                    <a:tint val="82000"/>
                  </a:schemeClr>
                </a:solidFill>
              </a:defRPr>
            </a:lvl4pPr>
            <a:lvl5pPr marL="4277746" indent="0">
              <a:buNone/>
              <a:defRPr sz="3743">
                <a:solidFill>
                  <a:schemeClr val="tx1">
                    <a:tint val="82000"/>
                  </a:schemeClr>
                </a:solidFill>
              </a:defRPr>
            </a:lvl5pPr>
            <a:lvl6pPr marL="5347183" indent="0">
              <a:buNone/>
              <a:defRPr sz="3743">
                <a:solidFill>
                  <a:schemeClr val="tx1">
                    <a:tint val="82000"/>
                  </a:schemeClr>
                </a:solidFill>
              </a:defRPr>
            </a:lvl6pPr>
            <a:lvl7pPr marL="6416619" indent="0">
              <a:buNone/>
              <a:defRPr sz="3743">
                <a:solidFill>
                  <a:schemeClr val="tx1">
                    <a:tint val="82000"/>
                  </a:schemeClr>
                </a:solidFill>
              </a:defRPr>
            </a:lvl7pPr>
            <a:lvl8pPr marL="7486056" indent="0">
              <a:buNone/>
              <a:defRPr sz="3743">
                <a:solidFill>
                  <a:schemeClr val="tx1">
                    <a:tint val="82000"/>
                  </a:schemeClr>
                </a:solidFill>
              </a:defRPr>
            </a:lvl8pPr>
            <a:lvl9pPr marL="8555492" indent="0">
              <a:buNone/>
              <a:defRPr sz="374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D03E-37BB-47AB-85AE-0A6BBF2FBF05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53A8-CF18-4382-80AA-1B93AA3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90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452" y="8059374"/>
            <a:ext cx="9090065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7871" y="8059374"/>
            <a:ext cx="9090065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D03E-37BB-47AB-85AE-0A6BBF2FBF05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53A8-CF18-4382-80AA-1B93AA3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70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237" y="1611882"/>
            <a:ext cx="18447485" cy="585180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240" y="7421634"/>
            <a:ext cx="9048289" cy="3637228"/>
          </a:xfrm>
        </p:spPr>
        <p:txBody>
          <a:bodyPr anchor="b"/>
          <a:lstStyle>
            <a:lvl1pPr marL="0" indent="0">
              <a:buNone/>
              <a:defRPr sz="5614" b="1"/>
            </a:lvl1pPr>
            <a:lvl2pPr marL="1069437" indent="0">
              <a:buNone/>
              <a:defRPr sz="4678" b="1"/>
            </a:lvl2pPr>
            <a:lvl3pPr marL="2138873" indent="0">
              <a:buNone/>
              <a:defRPr sz="4210" b="1"/>
            </a:lvl3pPr>
            <a:lvl4pPr marL="3208310" indent="0">
              <a:buNone/>
              <a:defRPr sz="3743" b="1"/>
            </a:lvl4pPr>
            <a:lvl5pPr marL="4277746" indent="0">
              <a:buNone/>
              <a:defRPr sz="3743" b="1"/>
            </a:lvl5pPr>
            <a:lvl6pPr marL="5347183" indent="0">
              <a:buNone/>
              <a:defRPr sz="3743" b="1"/>
            </a:lvl6pPr>
            <a:lvl7pPr marL="6416619" indent="0">
              <a:buNone/>
              <a:defRPr sz="3743" b="1"/>
            </a:lvl7pPr>
            <a:lvl8pPr marL="7486056" indent="0">
              <a:buNone/>
              <a:defRPr sz="3743" b="1"/>
            </a:lvl8pPr>
            <a:lvl9pPr marL="8555492" indent="0">
              <a:buNone/>
              <a:defRPr sz="374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3240" y="11058863"/>
            <a:ext cx="9048289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7872" y="7421634"/>
            <a:ext cx="9092851" cy="3637228"/>
          </a:xfrm>
        </p:spPr>
        <p:txBody>
          <a:bodyPr anchor="b"/>
          <a:lstStyle>
            <a:lvl1pPr marL="0" indent="0">
              <a:buNone/>
              <a:defRPr sz="5614" b="1"/>
            </a:lvl1pPr>
            <a:lvl2pPr marL="1069437" indent="0">
              <a:buNone/>
              <a:defRPr sz="4678" b="1"/>
            </a:lvl2pPr>
            <a:lvl3pPr marL="2138873" indent="0">
              <a:buNone/>
              <a:defRPr sz="4210" b="1"/>
            </a:lvl3pPr>
            <a:lvl4pPr marL="3208310" indent="0">
              <a:buNone/>
              <a:defRPr sz="3743" b="1"/>
            </a:lvl4pPr>
            <a:lvl5pPr marL="4277746" indent="0">
              <a:buNone/>
              <a:defRPr sz="3743" b="1"/>
            </a:lvl5pPr>
            <a:lvl6pPr marL="5347183" indent="0">
              <a:buNone/>
              <a:defRPr sz="3743" b="1"/>
            </a:lvl6pPr>
            <a:lvl7pPr marL="6416619" indent="0">
              <a:buNone/>
              <a:defRPr sz="3743" b="1"/>
            </a:lvl7pPr>
            <a:lvl8pPr marL="7486056" indent="0">
              <a:buNone/>
              <a:defRPr sz="3743" b="1"/>
            </a:lvl8pPr>
            <a:lvl9pPr marL="8555492" indent="0">
              <a:buNone/>
              <a:defRPr sz="374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7872" y="11058863"/>
            <a:ext cx="9092851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D03E-37BB-47AB-85AE-0A6BBF2FBF05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53A8-CF18-4382-80AA-1B93AA3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23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D03E-37BB-47AB-85AE-0A6BBF2FBF05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53A8-CF18-4382-80AA-1B93AA3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27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D03E-37BB-47AB-85AE-0A6BBF2FBF05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53A8-CF18-4382-80AA-1B93AA3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72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237" y="2018348"/>
            <a:ext cx="6898312" cy="7064216"/>
          </a:xfrm>
        </p:spPr>
        <p:txBody>
          <a:bodyPr anchor="b"/>
          <a:lstStyle>
            <a:lvl1pPr>
              <a:defRPr sz="748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2851" y="4359077"/>
            <a:ext cx="10827871" cy="21515024"/>
          </a:xfrm>
        </p:spPr>
        <p:txBody>
          <a:bodyPr/>
          <a:lstStyle>
            <a:lvl1pPr>
              <a:defRPr sz="7485"/>
            </a:lvl1pPr>
            <a:lvl2pPr>
              <a:defRPr sz="6549"/>
            </a:lvl2pPr>
            <a:lvl3pPr>
              <a:defRPr sz="5614"/>
            </a:lvl3pPr>
            <a:lvl4pPr>
              <a:defRPr sz="4678"/>
            </a:lvl4pPr>
            <a:lvl5pPr>
              <a:defRPr sz="4678"/>
            </a:lvl5pPr>
            <a:lvl6pPr>
              <a:defRPr sz="4678"/>
            </a:lvl6pPr>
            <a:lvl7pPr>
              <a:defRPr sz="4678"/>
            </a:lvl7pPr>
            <a:lvl8pPr>
              <a:defRPr sz="4678"/>
            </a:lvl8pPr>
            <a:lvl9pPr>
              <a:defRPr sz="467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237" y="9082564"/>
            <a:ext cx="6898312" cy="16826573"/>
          </a:xfrm>
        </p:spPr>
        <p:txBody>
          <a:bodyPr/>
          <a:lstStyle>
            <a:lvl1pPr marL="0" indent="0">
              <a:buNone/>
              <a:defRPr sz="3743"/>
            </a:lvl1pPr>
            <a:lvl2pPr marL="1069437" indent="0">
              <a:buNone/>
              <a:defRPr sz="3275"/>
            </a:lvl2pPr>
            <a:lvl3pPr marL="2138873" indent="0">
              <a:buNone/>
              <a:defRPr sz="2807"/>
            </a:lvl3pPr>
            <a:lvl4pPr marL="3208310" indent="0">
              <a:buNone/>
              <a:defRPr sz="2339"/>
            </a:lvl4pPr>
            <a:lvl5pPr marL="4277746" indent="0">
              <a:buNone/>
              <a:defRPr sz="2339"/>
            </a:lvl5pPr>
            <a:lvl6pPr marL="5347183" indent="0">
              <a:buNone/>
              <a:defRPr sz="2339"/>
            </a:lvl6pPr>
            <a:lvl7pPr marL="6416619" indent="0">
              <a:buNone/>
              <a:defRPr sz="2339"/>
            </a:lvl7pPr>
            <a:lvl8pPr marL="7486056" indent="0">
              <a:buNone/>
              <a:defRPr sz="2339"/>
            </a:lvl8pPr>
            <a:lvl9pPr marL="8555492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D03E-37BB-47AB-85AE-0A6BBF2FBF05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53A8-CF18-4382-80AA-1B93AA3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765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237" y="2018348"/>
            <a:ext cx="6898312" cy="7064216"/>
          </a:xfrm>
        </p:spPr>
        <p:txBody>
          <a:bodyPr anchor="b"/>
          <a:lstStyle>
            <a:lvl1pPr>
              <a:defRPr sz="748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2851" y="4359077"/>
            <a:ext cx="10827871" cy="21515024"/>
          </a:xfrm>
        </p:spPr>
        <p:txBody>
          <a:bodyPr anchor="t"/>
          <a:lstStyle>
            <a:lvl1pPr marL="0" indent="0">
              <a:buNone/>
              <a:defRPr sz="7485"/>
            </a:lvl1pPr>
            <a:lvl2pPr marL="1069437" indent="0">
              <a:buNone/>
              <a:defRPr sz="6549"/>
            </a:lvl2pPr>
            <a:lvl3pPr marL="2138873" indent="0">
              <a:buNone/>
              <a:defRPr sz="5614"/>
            </a:lvl3pPr>
            <a:lvl4pPr marL="3208310" indent="0">
              <a:buNone/>
              <a:defRPr sz="4678"/>
            </a:lvl4pPr>
            <a:lvl5pPr marL="4277746" indent="0">
              <a:buNone/>
              <a:defRPr sz="4678"/>
            </a:lvl5pPr>
            <a:lvl6pPr marL="5347183" indent="0">
              <a:buNone/>
              <a:defRPr sz="4678"/>
            </a:lvl6pPr>
            <a:lvl7pPr marL="6416619" indent="0">
              <a:buNone/>
              <a:defRPr sz="4678"/>
            </a:lvl7pPr>
            <a:lvl8pPr marL="7486056" indent="0">
              <a:buNone/>
              <a:defRPr sz="4678"/>
            </a:lvl8pPr>
            <a:lvl9pPr marL="8555492" indent="0">
              <a:buNone/>
              <a:defRPr sz="467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237" y="9082564"/>
            <a:ext cx="6898312" cy="16826573"/>
          </a:xfrm>
        </p:spPr>
        <p:txBody>
          <a:bodyPr/>
          <a:lstStyle>
            <a:lvl1pPr marL="0" indent="0">
              <a:buNone/>
              <a:defRPr sz="3743"/>
            </a:lvl1pPr>
            <a:lvl2pPr marL="1069437" indent="0">
              <a:buNone/>
              <a:defRPr sz="3275"/>
            </a:lvl2pPr>
            <a:lvl3pPr marL="2138873" indent="0">
              <a:buNone/>
              <a:defRPr sz="2807"/>
            </a:lvl3pPr>
            <a:lvl4pPr marL="3208310" indent="0">
              <a:buNone/>
              <a:defRPr sz="2339"/>
            </a:lvl4pPr>
            <a:lvl5pPr marL="4277746" indent="0">
              <a:buNone/>
              <a:defRPr sz="2339"/>
            </a:lvl5pPr>
            <a:lvl6pPr marL="5347183" indent="0">
              <a:buNone/>
              <a:defRPr sz="2339"/>
            </a:lvl6pPr>
            <a:lvl7pPr marL="6416619" indent="0">
              <a:buNone/>
              <a:defRPr sz="2339"/>
            </a:lvl7pPr>
            <a:lvl8pPr marL="7486056" indent="0">
              <a:buNone/>
              <a:defRPr sz="2339"/>
            </a:lvl8pPr>
            <a:lvl9pPr marL="8555492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D03E-37BB-47AB-85AE-0A6BBF2FBF05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53A8-CF18-4382-80AA-1B93AA3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18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D03E-37BB-47AB-85AE-0A6BBF2FBF05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53A8-CF18-4382-80AA-1B93AA3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0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6066" y="1611875"/>
            <a:ext cx="4611871" cy="256568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453" y="1611875"/>
            <a:ext cx="13568259" cy="256568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D03E-37BB-47AB-85AE-0A6BBF2FBF05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53A8-CF18-4382-80AA-1B93AA3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60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452" y="1611882"/>
            <a:ext cx="18447485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452" y="8059374"/>
            <a:ext cx="18447485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452" y="28060644"/>
            <a:ext cx="481238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54D03E-37BB-47AB-85AE-0A6BBF2FBF05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4904" y="28060644"/>
            <a:ext cx="7218581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5549" y="28060644"/>
            <a:ext cx="481238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853A8-CF18-4382-80AA-1B93AA3D1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6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138873" rtl="0" eaLnBrk="1" latinLnBrk="0" hangingPunct="1">
        <a:lnSpc>
          <a:spcPct val="90000"/>
        </a:lnSpc>
        <a:spcBef>
          <a:spcPct val="0"/>
        </a:spcBef>
        <a:buNone/>
        <a:defRPr sz="102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718" indent="-534718" algn="l" defTabSz="2138873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9" kern="1200">
          <a:solidFill>
            <a:schemeClr val="tx1"/>
          </a:solidFill>
          <a:latin typeface="+mn-lt"/>
          <a:ea typeface="+mn-ea"/>
          <a:cs typeface="+mn-cs"/>
        </a:defRPr>
      </a:lvl1pPr>
      <a:lvl2pPr marL="1604155" indent="-534718" algn="l" defTabSz="2138873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5614" kern="1200">
          <a:solidFill>
            <a:schemeClr val="tx1"/>
          </a:solidFill>
          <a:latin typeface="+mn-lt"/>
          <a:ea typeface="+mn-ea"/>
          <a:cs typeface="+mn-cs"/>
        </a:defRPr>
      </a:lvl2pPr>
      <a:lvl3pPr marL="2673591" indent="-534718" algn="l" defTabSz="2138873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678" kern="1200">
          <a:solidFill>
            <a:schemeClr val="tx1"/>
          </a:solidFill>
          <a:latin typeface="+mn-lt"/>
          <a:ea typeface="+mn-ea"/>
          <a:cs typeface="+mn-cs"/>
        </a:defRPr>
      </a:lvl3pPr>
      <a:lvl4pPr marL="3743028" indent="-534718" algn="l" defTabSz="2138873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4pPr>
      <a:lvl5pPr marL="4812464" indent="-534718" algn="l" defTabSz="2138873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5pPr>
      <a:lvl6pPr marL="5881901" indent="-534718" algn="l" defTabSz="2138873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951337" indent="-534718" algn="l" defTabSz="2138873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8020774" indent="-534718" algn="l" defTabSz="2138873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9090210" indent="-534718" algn="l" defTabSz="2138873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1pPr>
      <a:lvl2pPr marL="1069437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2pPr>
      <a:lvl3pPr marL="2138873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3pPr>
      <a:lvl4pPr marL="3208310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4pPr>
      <a:lvl5pPr marL="4277746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5pPr>
      <a:lvl6pPr marL="5347183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416619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7486056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8555492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5" Type="http://schemas.openxmlformats.org/officeDocument/2006/relationships/image" Target="../media/image13.jpeg"/><Relationship Id="rId10" Type="http://schemas.openxmlformats.org/officeDocument/2006/relationships/image" Target="../media/image8.tiff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3">
            <a:extLst>
              <a:ext uri="{FF2B5EF4-FFF2-40B4-BE49-F238E27FC236}">
                <a16:creationId xmlns:a16="http://schemas.microsoft.com/office/drawing/2014/main" id="{D91157B6-7BF4-5EA5-C271-57702B6071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863"/>
            <a:ext cx="4285715" cy="1600000"/>
          </a:xfrm>
          <a:prstGeom prst="rect">
            <a:avLst/>
          </a:prstGeom>
        </p:spPr>
      </p:pic>
      <p:sp>
        <p:nvSpPr>
          <p:cNvPr id="9" name="CaixaDeTexto 6">
            <a:extLst>
              <a:ext uri="{FF2B5EF4-FFF2-40B4-BE49-F238E27FC236}">
                <a16:creationId xmlns:a16="http://schemas.microsoft.com/office/drawing/2014/main" id="{160D5122-0767-09D9-CFAD-E6F196418F6B}"/>
              </a:ext>
            </a:extLst>
          </p:cNvPr>
          <p:cNvSpPr txBox="1"/>
          <p:nvPr/>
        </p:nvSpPr>
        <p:spPr>
          <a:xfrm>
            <a:off x="5649457" y="394868"/>
            <a:ext cx="55190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7th International Conference on Applications of Optics and Photonics</a:t>
            </a:r>
            <a:endParaRPr lang="pt-PT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ixaDeTexto 4">
            <a:extLst>
              <a:ext uri="{FF2B5EF4-FFF2-40B4-BE49-F238E27FC236}">
                <a16:creationId xmlns:a16="http://schemas.microsoft.com/office/drawing/2014/main" id="{8BC2CF9E-1965-4EAA-E97B-6343B00E52E7}"/>
              </a:ext>
            </a:extLst>
          </p:cNvPr>
          <p:cNvSpPr txBox="1"/>
          <p:nvPr/>
        </p:nvSpPr>
        <p:spPr>
          <a:xfrm>
            <a:off x="12215276" y="502809"/>
            <a:ext cx="33216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dirty="0" err="1">
                <a:latin typeface="Arial" panose="020B0604020202020204" pitchFamily="34" charset="0"/>
                <a:cs typeface="Arial" panose="020B0604020202020204" pitchFamily="34" charset="0"/>
              </a:rPr>
              <a:t>Lisbon</a:t>
            </a:r>
            <a:r>
              <a:rPr lang="pt-PT" sz="2800" dirty="0">
                <a:latin typeface="Arial" panose="020B0604020202020204" pitchFamily="34" charset="0"/>
                <a:cs typeface="Arial" panose="020B0604020202020204" pitchFamily="34" charset="0"/>
              </a:rPr>
              <a:t>, Portugal,</a:t>
            </a:r>
          </a:p>
          <a:p>
            <a:pPr algn="ctr"/>
            <a:r>
              <a:rPr lang="pt-PT" sz="2800" dirty="0" err="1">
                <a:latin typeface="Arial" panose="020B0604020202020204" pitchFamily="34" charset="0"/>
                <a:cs typeface="Arial" panose="020B0604020202020204" pitchFamily="34" charset="0"/>
              </a:rPr>
              <a:t>July</a:t>
            </a:r>
            <a:r>
              <a:rPr lang="pt-PT" sz="2800" dirty="0">
                <a:latin typeface="Arial" panose="020B0604020202020204" pitchFamily="34" charset="0"/>
                <a:cs typeface="Arial" panose="020B0604020202020204" pitchFamily="34" charset="0"/>
              </a:rPr>
              <a:t> 7 - 10, 2026</a:t>
            </a:r>
          </a:p>
        </p:txBody>
      </p:sp>
      <p:sp>
        <p:nvSpPr>
          <p:cNvPr id="11" name="CaixaDeTexto 7">
            <a:extLst>
              <a:ext uri="{FF2B5EF4-FFF2-40B4-BE49-F238E27FC236}">
                <a16:creationId xmlns:a16="http://schemas.microsoft.com/office/drawing/2014/main" id="{2AF65911-1191-C7DE-D49C-AFCF5129C7BE}"/>
              </a:ext>
            </a:extLst>
          </p:cNvPr>
          <p:cNvSpPr txBox="1"/>
          <p:nvPr/>
        </p:nvSpPr>
        <p:spPr>
          <a:xfrm>
            <a:off x="17627101" y="718252"/>
            <a:ext cx="3304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800" dirty="0">
                <a:latin typeface="Arial" panose="020B0604020202020204" pitchFamily="34" charset="0"/>
                <a:cs typeface="Arial" panose="020B0604020202020204" pitchFamily="34" charset="0"/>
              </a:rPr>
              <a:t>Poster Number 261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84432938-498D-A185-DB32-236228CB0DB8}"/>
              </a:ext>
            </a:extLst>
          </p:cNvPr>
          <p:cNvSpPr txBox="1">
            <a:spLocks/>
          </p:cNvSpPr>
          <p:nvPr/>
        </p:nvSpPr>
        <p:spPr>
          <a:xfrm>
            <a:off x="487680" y="2016136"/>
            <a:ext cx="20386381" cy="24560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280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800" b="1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C117BAD7-4440-454A-B49C-801959907F13}"/>
              </a:ext>
            </a:extLst>
          </p:cNvPr>
          <p:cNvSpPr>
            <a:spLocks noGrp="1"/>
          </p:cNvSpPr>
          <p:nvPr/>
        </p:nvSpPr>
        <p:spPr>
          <a:xfrm>
            <a:off x="544830" y="2300983"/>
            <a:ext cx="20386381" cy="15696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 defTabSz="3802180" rtl="0" eaLnBrk="1" latinLnBrk="0" hangingPunct="1">
              <a:spcBef>
                <a:spcPct val="20000"/>
              </a:spcBef>
              <a:buFont typeface="Arial" pitchFamily="34" charset="0"/>
              <a:buNone/>
              <a:tabLst/>
              <a:defRPr sz="4800" b="1" i="0" kern="120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l" defTabSz="3802180" rtl="0" eaLnBrk="1" latinLnBrk="0" hangingPunct="1">
              <a:spcBef>
                <a:spcPct val="20000"/>
              </a:spcBef>
              <a:buFont typeface="Arial" pitchFamily="34" charset="0"/>
              <a:buNone/>
              <a:tabLst/>
              <a:defRPr sz="3465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0" indent="0" algn="l" defTabSz="3802180" rtl="0" eaLnBrk="1" latinLnBrk="0" hangingPunct="1">
              <a:spcBef>
                <a:spcPct val="20000"/>
              </a:spcBef>
              <a:buFont typeface="Arial" pitchFamily="34" charset="0"/>
              <a:buNone/>
              <a:tabLst/>
              <a:defRPr sz="2772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0" indent="0" algn="l" defTabSz="3802180" rtl="0" eaLnBrk="1" latinLnBrk="0" hangingPunct="1">
              <a:spcBef>
                <a:spcPct val="20000"/>
              </a:spcBef>
              <a:buFont typeface="Arial" pitchFamily="34" charset="0"/>
              <a:buNone/>
              <a:tabLst/>
              <a:defRPr sz="2079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0" indent="0" algn="l" defTabSz="3802180" rtl="0" eaLnBrk="1" latinLnBrk="0" hangingPunct="1">
              <a:spcBef>
                <a:spcPct val="20000"/>
              </a:spcBef>
              <a:buFont typeface="Arial" pitchFamily="34" charset="0"/>
              <a:buNone/>
              <a:tabLst/>
              <a:defRPr sz="2079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10455998" indent="-950546" algn="l" defTabSz="38021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3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357086" indent="-950546" algn="l" defTabSz="38021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3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58178" indent="-950546" algn="l" defTabSz="38021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3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159268" indent="-950546" algn="l" defTabSz="38021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3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Nd:YAG Pulsed Laser Deposition Platform for Thin-Film and Nanostructured Material Fabrication for Photonic Applications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0ACF97B-AB1B-5945-B9D1-356BBAE8EE1E}"/>
              </a:ext>
            </a:extLst>
          </p:cNvPr>
          <p:cNvSpPr>
            <a:spLocks noGrp="1"/>
          </p:cNvSpPr>
          <p:nvPr/>
        </p:nvSpPr>
        <p:spPr>
          <a:xfrm>
            <a:off x="1260645" y="4034509"/>
            <a:ext cx="1884045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 defTabSz="3802180" rtl="0" eaLnBrk="1" latinLnBrk="0" hangingPunct="1">
              <a:spcBef>
                <a:spcPct val="20000"/>
              </a:spcBef>
              <a:buFont typeface="Arial" pitchFamily="34" charset="0"/>
              <a:buNone/>
              <a:tabLst/>
              <a:defRPr sz="3600" b="1" i="0" kern="120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l" defTabSz="3802180" rtl="0" eaLnBrk="1" latinLnBrk="0" hangingPunct="1">
              <a:spcBef>
                <a:spcPct val="20000"/>
              </a:spcBef>
              <a:buFont typeface="Arial" pitchFamily="34" charset="0"/>
              <a:buNone/>
              <a:tabLst/>
              <a:defRPr sz="3465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0" indent="0" algn="l" defTabSz="3802180" rtl="0" eaLnBrk="1" latinLnBrk="0" hangingPunct="1">
              <a:spcBef>
                <a:spcPct val="20000"/>
              </a:spcBef>
              <a:buFont typeface="Arial" pitchFamily="34" charset="0"/>
              <a:buNone/>
              <a:tabLst/>
              <a:defRPr sz="2772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0" indent="0" algn="l" defTabSz="3802180" rtl="0" eaLnBrk="1" latinLnBrk="0" hangingPunct="1">
              <a:spcBef>
                <a:spcPct val="20000"/>
              </a:spcBef>
              <a:buFont typeface="Arial" pitchFamily="34" charset="0"/>
              <a:buNone/>
              <a:tabLst/>
              <a:defRPr sz="2079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0" indent="0" algn="l" defTabSz="3802180" rtl="0" eaLnBrk="1" latinLnBrk="0" hangingPunct="1">
              <a:spcBef>
                <a:spcPct val="20000"/>
              </a:spcBef>
              <a:buFont typeface="Arial" pitchFamily="34" charset="0"/>
              <a:buNone/>
              <a:tabLst/>
              <a:defRPr sz="2079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10455998" indent="-950546" algn="l" defTabSz="38021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3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357086" indent="-950546" algn="l" defTabSz="38021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3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58178" indent="-950546" algn="l" defTabSz="38021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3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159268" indent="-950546" algn="l" defTabSz="38021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3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André Moreira</a:t>
            </a:r>
            <a:r>
              <a:rPr lang="en-US" baseline="30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1,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*</a:t>
            </a:r>
            <a:r>
              <a:rPr lang="en-US" baseline="-25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Miguel Fernandes</a:t>
            </a:r>
            <a:r>
              <a:rPr lang="en-US" baseline="30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1,2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Jorge Fidalgo</a:t>
            </a:r>
            <a:r>
              <a:rPr lang="en-US" baseline="30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, João Frazão</a:t>
            </a:r>
            <a:r>
              <a:rPr lang="en-US" baseline="30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392A73D-5AFB-BF41-A768-F1BE2E077B04}"/>
              </a:ext>
            </a:extLst>
          </p:cNvPr>
          <p:cNvSpPr>
            <a:spLocks noGrp="1"/>
          </p:cNvSpPr>
          <p:nvPr/>
        </p:nvSpPr>
        <p:spPr>
          <a:xfrm>
            <a:off x="0" y="4898063"/>
            <a:ext cx="21006148" cy="76944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 defTabSz="3802180" rtl="0" eaLnBrk="1" latinLnBrk="0" hangingPunct="1">
              <a:spcBef>
                <a:spcPct val="20000"/>
              </a:spcBef>
              <a:buFont typeface="Arial" pitchFamily="34" charset="0"/>
              <a:buNone/>
              <a:tabLst/>
              <a:defRPr sz="3200" b="1" i="0" kern="120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l" defTabSz="3802180" rtl="0" eaLnBrk="1" latinLnBrk="0" hangingPunct="1">
              <a:spcBef>
                <a:spcPct val="20000"/>
              </a:spcBef>
              <a:buFont typeface="Arial" pitchFamily="34" charset="0"/>
              <a:buNone/>
              <a:tabLst/>
              <a:defRPr sz="3465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0" indent="0" algn="l" defTabSz="3802180" rtl="0" eaLnBrk="1" latinLnBrk="0" hangingPunct="1">
              <a:spcBef>
                <a:spcPct val="20000"/>
              </a:spcBef>
              <a:buFont typeface="Arial" pitchFamily="34" charset="0"/>
              <a:buNone/>
              <a:tabLst/>
              <a:defRPr sz="2772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0" indent="0" algn="l" defTabSz="3802180" rtl="0" eaLnBrk="1" latinLnBrk="0" hangingPunct="1">
              <a:spcBef>
                <a:spcPct val="20000"/>
              </a:spcBef>
              <a:buFont typeface="Arial" pitchFamily="34" charset="0"/>
              <a:buNone/>
              <a:tabLst/>
              <a:defRPr sz="2079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0" indent="0" algn="l" defTabSz="3802180" rtl="0" eaLnBrk="1" latinLnBrk="0" hangingPunct="1">
              <a:spcBef>
                <a:spcPct val="20000"/>
              </a:spcBef>
              <a:buFont typeface="Arial" pitchFamily="34" charset="0"/>
              <a:buNone/>
              <a:tabLst/>
              <a:defRPr sz="2079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10455998" indent="-950546" algn="l" defTabSz="38021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3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357086" indent="-950546" algn="l" defTabSz="38021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3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58178" indent="-950546" algn="l" defTabSz="38021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3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159268" indent="-950546" algn="l" defTabSz="380218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3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0" baseline="30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1.</a:t>
            </a:r>
            <a:r>
              <a:rPr lang="en-US" sz="22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Departamento de Engenharia Electrónica e Telecomunicações e de Computadores, Instituto Superior de Engenharia de Lisboa, Rua Conselheiro Emídio Navarro 1, 1959-007 Lisboa, Portugal  |  </a:t>
            </a:r>
            <a:r>
              <a:rPr lang="en-US" sz="2200" b="0" baseline="30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2.</a:t>
            </a:r>
            <a:r>
              <a:rPr lang="en-US" sz="22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Center of Technology and Systems (CTS) and Associated Lab of Intelligent Systems (LASI), 2829-516 Caparica, Portugal</a:t>
            </a:r>
            <a:endParaRPr lang="en-US" sz="2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1E796C0-9D59-C6BA-EFF8-13F1C1385A1C}"/>
              </a:ext>
            </a:extLst>
          </p:cNvPr>
          <p:cNvSpPr/>
          <p:nvPr/>
        </p:nvSpPr>
        <p:spPr>
          <a:xfrm>
            <a:off x="487680" y="5910042"/>
            <a:ext cx="3724374" cy="50369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PLD SYSTEM  OVERVIEW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B0316A2-84E6-C613-6E2E-970A261104F4}"/>
              </a:ext>
            </a:extLst>
          </p:cNvPr>
          <p:cNvSpPr/>
          <p:nvPr/>
        </p:nvSpPr>
        <p:spPr>
          <a:xfrm>
            <a:off x="472438" y="5892878"/>
            <a:ext cx="8904185" cy="5239489"/>
          </a:xfrm>
          <a:prstGeom prst="roundRect">
            <a:avLst>
              <a:gd name="adj" fmla="val 4364"/>
            </a:avLst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935437-0C53-571C-0A71-3811317389F4}"/>
              </a:ext>
            </a:extLst>
          </p:cNvPr>
          <p:cNvSpPr txBox="1"/>
          <p:nvPr/>
        </p:nvSpPr>
        <p:spPr>
          <a:xfrm>
            <a:off x="677899" y="7074502"/>
            <a:ext cx="8559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Development of a flexible PLD platform</a:t>
            </a:r>
            <a:r>
              <a:rPr lang="en-US" sz="2200" dirty="0"/>
              <a:t> based on a Q-switched Nd:YAG laser (1064/532/266 nm) for controlled fabrication of thin films and nanostructured materials for photonic applications.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Deposition of Mo, Al, Cr and NiO thin films</a:t>
            </a:r>
            <a:r>
              <a:rPr lang="en-US" sz="2200" dirty="0"/>
              <a:t> on glass substrates, studying the influence of laser fluence, wavelength, chamber pressure, substrate temperature and target–substrate distance.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 </a:t>
            </a:r>
            <a:r>
              <a:rPr lang="en-US" sz="2200" b="1" dirty="0"/>
              <a:t>Optimization of deposition conditions</a:t>
            </a:r>
            <a:r>
              <a:rPr lang="en-US" sz="2200" dirty="0"/>
              <a:t> through analysis of film uniformity, surface coverage and morphology.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C6E5561-96DD-2C33-1C5E-E92B5825A673}"/>
              </a:ext>
            </a:extLst>
          </p:cNvPr>
          <p:cNvSpPr/>
          <p:nvPr/>
        </p:nvSpPr>
        <p:spPr>
          <a:xfrm>
            <a:off x="544830" y="12433795"/>
            <a:ext cx="20461318" cy="5381430"/>
          </a:xfrm>
          <a:prstGeom prst="roundRect">
            <a:avLst>
              <a:gd name="adj" fmla="val 2073"/>
            </a:avLst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DC9451B-5743-8C67-16DC-8259C24B266C}"/>
              </a:ext>
            </a:extLst>
          </p:cNvPr>
          <p:cNvSpPr/>
          <p:nvPr/>
        </p:nvSpPr>
        <p:spPr>
          <a:xfrm>
            <a:off x="544830" y="12394673"/>
            <a:ext cx="2607309" cy="52707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METHODS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1559AF-8389-09D0-9D7E-0E6A3C915B0F}"/>
              </a:ext>
            </a:extLst>
          </p:cNvPr>
          <p:cNvSpPr txBox="1"/>
          <p:nvPr/>
        </p:nvSpPr>
        <p:spPr>
          <a:xfrm>
            <a:off x="1120345" y="17402832"/>
            <a:ext cx="3804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Fig1. </a:t>
            </a:r>
            <a:r>
              <a:rPr lang="en-US" sz="2000" dirty="0"/>
              <a:t>Experimental Setup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9BDDFB3-C79C-59E1-3A5B-974E8110B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02" y="13140889"/>
            <a:ext cx="8268497" cy="41827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4ADF177-EE95-3018-6E1D-C7DEC5F8E4CE}"/>
                  </a:ext>
                </a:extLst>
              </p:cNvPr>
              <p:cNvSpPr txBox="1"/>
              <p:nvPr/>
            </p:nvSpPr>
            <p:spPr>
              <a:xfrm>
                <a:off x="9649749" y="13152835"/>
                <a:ext cx="5314950" cy="409727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400" b="1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SYSTEM FEATURES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200" dirty="0"/>
                  <a:t>Q-switched ND:YAG laser 20Hz, 6ns, up to 800MJ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200" dirty="0"/>
                  <a:t>Wavelengths:  1064, 532 and 266nm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200" dirty="0"/>
                  <a:t>High vacuum: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</m:t>
                        </m:r>
                      </m:sup>
                    </m:sSup>
                  </m:oMath>
                </a14:m>
                <a:r>
                  <a:rPr lang="en-US" sz="2200" dirty="0">
                    <a:ea typeface="Cambria Math" panose="02040503050406030204" pitchFamily="18" charset="0"/>
                  </a:rPr>
                  <a:t>  mbar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200" dirty="0">
                    <a:ea typeface="Cambria Math" panose="02040503050406030204" pitchFamily="18" charset="0"/>
                  </a:rPr>
                  <a:t>Rotating target carousel (up to 3 targets)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200" dirty="0">
                    <a:ea typeface="Cambria Math" panose="02040503050406030204" pitchFamily="18" charset="0"/>
                  </a:rPr>
                  <a:t>Substrate heating (up to 300 °C)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200" dirty="0">
                    <a:ea typeface="Cambria Math" panose="02040503050406030204" pitchFamily="18" charset="0"/>
                  </a:rPr>
                  <a:t>Adjustable flag to avoid target contaminations</a:t>
                </a:r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4ADF177-EE95-3018-6E1D-C7DEC5F8E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9749" y="13152835"/>
                <a:ext cx="5314950" cy="4097275"/>
              </a:xfrm>
              <a:prstGeom prst="rect">
                <a:avLst/>
              </a:prstGeom>
              <a:blipFill>
                <a:blip r:embed="rId5"/>
                <a:stretch>
                  <a:fillRect l="-1835" t="-1190" r="-1147" b="-20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6C0E56A-8A47-A41A-567B-511B2BF44938}"/>
              </a:ext>
            </a:extLst>
          </p:cNvPr>
          <p:cNvSpPr/>
          <p:nvPr/>
        </p:nvSpPr>
        <p:spPr>
          <a:xfrm>
            <a:off x="12020550" y="20059650"/>
            <a:ext cx="45719" cy="76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Imagem 1">
            <a:extLst>
              <a:ext uri="{FF2B5EF4-FFF2-40B4-BE49-F238E27FC236}">
                <a16:creationId xmlns:a16="http://schemas.microsoft.com/office/drawing/2014/main" id="{28C24D00-3848-D86B-DB8C-E71D2A0AF16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4223" y="12962233"/>
            <a:ext cx="4513977" cy="409779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3B5B605-B6FF-AAAE-F6E2-FD926AD1EFE5}"/>
              </a:ext>
            </a:extLst>
          </p:cNvPr>
          <p:cNvSpPr txBox="1"/>
          <p:nvPr/>
        </p:nvSpPr>
        <p:spPr>
          <a:xfrm>
            <a:off x="15402578" y="17374843"/>
            <a:ext cx="3804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Fig2. </a:t>
            </a:r>
            <a:r>
              <a:rPr lang="en-US" sz="2000" dirty="0"/>
              <a:t>Target carrousel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021FBA9-0439-B3E6-1FE9-7B67E7C34AF5}"/>
              </a:ext>
            </a:extLst>
          </p:cNvPr>
          <p:cNvSpPr/>
          <p:nvPr/>
        </p:nvSpPr>
        <p:spPr>
          <a:xfrm>
            <a:off x="529592" y="18021612"/>
            <a:ext cx="20461318" cy="4753972"/>
          </a:xfrm>
          <a:prstGeom prst="roundRect">
            <a:avLst>
              <a:gd name="adj" fmla="val 2073"/>
            </a:avLst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64D01F2-0A47-F0F9-B342-46D009D23937}"/>
              </a:ext>
            </a:extLst>
          </p:cNvPr>
          <p:cNvSpPr/>
          <p:nvPr/>
        </p:nvSpPr>
        <p:spPr>
          <a:xfrm>
            <a:off x="529592" y="18009329"/>
            <a:ext cx="1803790" cy="52707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RESULTS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7B32AE0-7EB4-EBC6-459D-8AB22CE60C0D}"/>
              </a:ext>
            </a:extLst>
          </p:cNvPr>
          <p:cNvGrpSpPr/>
          <p:nvPr/>
        </p:nvGrpSpPr>
        <p:grpSpPr>
          <a:xfrm>
            <a:off x="629698" y="18674864"/>
            <a:ext cx="7101001" cy="2331123"/>
            <a:chOff x="1534922" y="20091915"/>
            <a:chExt cx="7101001" cy="2331123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5B2B392-5684-2547-9409-EADE8C1EDE47}"/>
                </a:ext>
              </a:extLst>
            </p:cNvPr>
            <p:cNvGrpSpPr/>
            <p:nvPr/>
          </p:nvGrpSpPr>
          <p:grpSpPr>
            <a:xfrm>
              <a:off x="1534922" y="20523782"/>
              <a:ext cx="7101001" cy="1899256"/>
              <a:chOff x="1456040" y="20056929"/>
              <a:chExt cx="7101001" cy="1899256"/>
            </a:xfrm>
          </p:grpSpPr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2B0E5115-5E69-5149-29EF-D549E98BB3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56040" y="20227430"/>
                <a:ext cx="457240" cy="1646063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2C8BA91-0740-7F40-343F-7FB5069BE2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64200" y="20218107"/>
                <a:ext cx="472481" cy="1539373"/>
              </a:xfrm>
              <a:prstGeom prst="rect">
                <a:avLst/>
              </a:prstGeom>
            </p:spPr>
          </p:pic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3E0EBAB-FEF1-3015-F985-FA14214FCA8B}"/>
                  </a:ext>
                </a:extLst>
              </p:cNvPr>
              <p:cNvSpPr txBox="1"/>
              <p:nvPr/>
            </p:nvSpPr>
            <p:spPr>
              <a:xfrm>
                <a:off x="1830498" y="20056929"/>
                <a:ext cx="2921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Laser wavelength</a:t>
                </a:r>
              </a:p>
              <a:p>
                <a:r>
                  <a:rPr lang="en-US" sz="2000" dirty="0"/>
                  <a:t>(1064 / 532/ 266 nm)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5D2AD9B-228D-62F4-AF11-890D7AA63090}"/>
                  </a:ext>
                </a:extLst>
              </p:cNvPr>
              <p:cNvSpPr txBox="1"/>
              <p:nvPr/>
            </p:nvSpPr>
            <p:spPr>
              <a:xfrm>
                <a:off x="1830498" y="20787739"/>
                <a:ext cx="292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Laser fluence on target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8B46463-84A7-5D68-A016-DD2310BBEEC0}"/>
                  </a:ext>
                </a:extLst>
              </p:cNvPr>
              <p:cNvSpPr txBox="1"/>
              <p:nvPr/>
            </p:nvSpPr>
            <p:spPr>
              <a:xfrm>
                <a:off x="1913280" y="21358350"/>
                <a:ext cx="292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Chamber pressure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94DF07A-3F51-4AE1-3651-64DBDA947920}"/>
                  </a:ext>
                </a:extLst>
              </p:cNvPr>
              <p:cNvSpPr txBox="1"/>
              <p:nvPr/>
            </p:nvSpPr>
            <p:spPr>
              <a:xfrm>
                <a:off x="5206034" y="20199057"/>
                <a:ext cx="292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Substrate temperature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15DF9D0-EAF2-5201-BE1D-EB5A9C5B4B21}"/>
                  </a:ext>
                </a:extLst>
              </p:cNvPr>
              <p:cNvSpPr txBox="1"/>
              <p:nvPr/>
            </p:nvSpPr>
            <p:spPr>
              <a:xfrm>
                <a:off x="5206034" y="20764815"/>
                <a:ext cx="335100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Target-substrate distance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0EB1C89-A65F-486E-E9DF-7FF8AA43B865}"/>
                  </a:ext>
                </a:extLst>
              </p:cNvPr>
              <p:cNvSpPr txBox="1"/>
              <p:nvPr/>
            </p:nvSpPr>
            <p:spPr>
              <a:xfrm>
                <a:off x="5291520" y="21248299"/>
                <a:ext cx="2921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Deposition time</a:t>
                </a:r>
              </a:p>
              <a:p>
                <a:r>
                  <a:rPr lang="en-US" sz="2000" dirty="0"/>
                  <a:t>(number of pulses)</a:t>
                </a: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2E2777F-E353-5A2C-549D-9621A41E2F90}"/>
                </a:ext>
              </a:extLst>
            </p:cNvPr>
            <p:cNvSpPr txBox="1"/>
            <p:nvPr/>
          </p:nvSpPr>
          <p:spPr>
            <a:xfrm>
              <a:off x="1581458" y="20091915"/>
              <a:ext cx="374240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DEPOSITION PARAMETERS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A28FBA7-8213-0FEB-9BF1-0D02D0F3A24D}"/>
              </a:ext>
            </a:extLst>
          </p:cNvPr>
          <p:cNvGrpSpPr/>
          <p:nvPr/>
        </p:nvGrpSpPr>
        <p:grpSpPr>
          <a:xfrm>
            <a:off x="7925404" y="18195204"/>
            <a:ext cx="12870801" cy="4306815"/>
            <a:chOff x="8060410" y="19628182"/>
            <a:chExt cx="12870801" cy="4306815"/>
          </a:xfrm>
        </p:grpSpPr>
        <p:pic>
          <p:nvPicPr>
            <p:cNvPr id="62" name="Imagem 6">
              <a:extLst>
                <a:ext uri="{FF2B5EF4-FFF2-40B4-BE49-F238E27FC236}">
                  <a16:creationId xmlns:a16="http://schemas.microsoft.com/office/drawing/2014/main" id="{750F7003-FA81-B478-0BB3-06AA30353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4930" y="19651056"/>
              <a:ext cx="2671360" cy="28384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Imagem 5">
              <a:extLst>
                <a:ext uri="{FF2B5EF4-FFF2-40B4-BE49-F238E27FC236}">
                  <a16:creationId xmlns:a16="http://schemas.microsoft.com/office/drawing/2014/main" id="{4CA147D7-8D40-57BA-9F06-CC405BB5F6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4592" y="19628182"/>
              <a:ext cx="4310007" cy="2861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Imagem 2">
              <a:extLst>
                <a:ext uri="{FF2B5EF4-FFF2-40B4-BE49-F238E27FC236}">
                  <a16:creationId xmlns:a16="http://schemas.microsoft.com/office/drawing/2014/main" id="{9150FDC0-52BD-7A73-B49D-93610045A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16450" y="19649017"/>
              <a:ext cx="5435350" cy="2845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570608C-B181-8E31-5E15-FFBA41F00B96}"/>
                </a:ext>
              </a:extLst>
            </p:cNvPr>
            <p:cNvSpPr txBox="1"/>
            <p:nvPr/>
          </p:nvSpPr>
          <p:spPr>
            <a:xfrm>
              <a:off x="9151198" y="22459103"/>
              <a:ext cx="9971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(a)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CCE3BE3-EBD2-E71B-B551-CC85536CFA83}"/>
                </a:ext>
              </a:extLst>
            </p:cNvPr>
            <p:cNvSpPr txBox="1"/>
            <p:nvPr/>
          </p:nvSpPr>
          <p:spPr>
            <a:xfrm>
              <a:off x="12735185" y="22477880"/>
              <a:ext cx="9971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(b)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5B532D0-386F-B125-3737-2A53DC0EFFDC}"/>
                </a:ext>
              </a:extLst>
            </p:cNvPr>
            <p:cNvSpPr txBox="1"/>
            <p:nvPr/>
          </p:nvSpPr>
          <p:spPr>
            <a:xfrm>
              <a:off x="17871286" y="22489531"/>
              <a:ext cx="9971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(c)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51F2C87-5055-2578-E48E-98B3BF06EE27}"/>
                </a:ext>
              </a:extLst>
            </p:cNvPr>
            <p:cNvSpPr txBox="1"/>
            <p:nvPr/>
          </p:nvSpPr>
          <p:spPr>
            <a:xfrm>
              <a:off x="8060410" y="22919334"/>
              <a:ext cx="1287080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Fig 3. </a:t>
              </a:r>
              <a:r>
                <a:rPr lang="en-US" sz="2000" dirty="0"/>
                <a:t>Characterization of the aluminium thin film deposited by PLD: (a) macroscopic view of the Al deposition on glass substrate; (b) SEM micrograph revealing the surface morphology of the deposited layer; (c) Dektak profilometric measurement showing the film thickness profile.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CF9224C-32F5-DEF0-BAA9-E05CBC3F9827}"/>
              </a:ext>
            </a:extLst>
          </p:cNvPr>
          <p:cNvGrpSpPr/>
          <p:nvPr/>
        </p:nvGrpSpPr>
        <p:grpSpPr>
          <a:xfrm>
            <a:off x="529592" y="23455988"/>
            <a:ext cx="9603471" cy="3965221"/>
            <a:chOff x="6125387" y="24644036"/>
            <a:chExt cx="10997040" cy="3965221"/>
          </a:xfrm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E24DCAA6-A6A5-5EAE-E985-712DF0E4E721}"/>
                </a:ext>
              </a:extLst>
            </p:cNvPr>
            <p:cNvSpPr/>
            <p:nvPr/>
          </p:nvSpPr>
          <p:spPr>
            <a:xfrm>
              <a:off x="6125387" y="24644036"/>
              <a:ext cx="2968207" cy="530190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b="1" dirty="0"/>
                <a:t>CONCLUSIONS</a:t>
              </a:r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96BF9817-DA64-B5A4-D71D-82B32DC731AA}"/>
                </a:ext>
              </a:extLst>
            </p:cNvPr>
            <p:cNvSpPr/>
            <p:nvPr/>
          </p:nvSpPr>
          <p:spPr>
            <a:xfrm>
              <a:off x="6125388" y="24657495"/>
              <a:ext cx="10997039" cy="3951762"/>
            </a:xfrm>
            <a:prstGeom prst="roundRect">
              <a:avLst>
                <a:gd name="adj" fmla="val 2073"/>
              </a:avLst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53E4147-5EB5-AC7A-8C54-64B7175FDD6F}"/>
                </a:ext>
              </a:extLst>
            </p:cNvPr>
            <p:cNvSpPr txBox="1"/>
            <p:nvPr/>
          </p:nvSpPr>
          <p:spPr>
            <a:xfrm>
              <a:off x="6431567" y="25570670"/>
              <a:ext cx="10690860" cy="29854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A flexible </a:t>
              </a:r>
              <a:r>
                <a:rPr lang="en-US" sz="2000" b="1" dirty="0"/>
                <a:t>Nd:YAG PLD platform</a:t>
              </a:r>
              <a:r>
                <a:rPr lang="en-US" sz="2000" dirty="0"/>
                <a:t> was successfully developed for controlled thin-film and nanostructure fabrication.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Deposition parameters were optimized, demonstrating their influence on film </a:t>
              </a:r>
              <a:r>
                <a:rPr lang="en-US" sz="2000" b="1" dirty="0"/>
                <a:t>uniformity, coverage and morphology</a:t>
              </a:r>
              <a:r>
                <a:rPr lang="en-US" sz="2000" dirty="0"/>
                <a:t>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The developed system enables advanced material fabrication for </a:t>
              </a:r>
              <a:r>
                <a:rPr lang="en-US" sz="2000" b="1" dirty="0"/>
                <a:t>photonic and electronic applications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2000" b="1" dirty="0"/>
            </a:p>
            <a:p>
              <a:pPr algn="ctr"/>
              <a:r>
                <a:rPr lang="en-US" sz="2400" b="1" dirty="0"/>
                <a:t>All mechanical design,  development and implementation where successfully achieved in-house.</a:t>
              </a:r>
              <a:endParaRPr lang="en-US" sz="2400" dirty="0"/>
            </a:p>
          </p:txBody>
        </p:sp>
      </p:grpSp>
      <p:pic>
        <p:nvPicPr>
          <p:cNvPr id="14" name="Picture 13" descr="Informações Académicas | Instituto Superior de Engenharia de Lisboa">
            <a:extLst>
              <a:ext uri="{FF2B5EF4-FFF2-40B4-BE49-F238E27FC236}">
                <a16:creationId xmlns:a16="http://schemas.microsoft.com/office/drawing/2014/main" id="{2FAA351C-19D4-1849-38E5-A7B486887B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765" y="28707506"/>
            <a:ext cx="5848751" cy="145992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FF2738B-78B3-DA8E-C019-231CEE79277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4714" y="28865852"/>
            <a:ext cx="6486491" cy="107886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B47DC0C-391D-8F14-F576-3EA50E86EB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0" b="5962"/>
          <a:stretch>
            <a:fillRect/>
          </a:stretch>
        </p:blipFill>
        <p:spPr>
          <a:xfrm>
            <a:off x="9550401" y="6213024"/>
            <a:ext cx="11323660" cy="6060390"/>
          </a:xfrm>
          <a:prstGeom prst="roundRect">
            <a:avLst>
              <a:gd name="adj" fmla="val 7616"/>
            </a:avLst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9E0D6D5-83DF-1C1B-5438-E8D0B9A0AA3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2161" y="27235219"/>
            <a:ext cx="1854602" cy="239794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541331C-C388-82C6-4D9B-9053052AD4E1}"/>
              </a:ext>
            </a:extLst>
          </p:cNvPr>
          <p:cNvSpPr txBox="1"/>
          <p:nvPr/>
        </p:nvSpPr>
        <p:spPr>
          <a:xfrm>
            <a:off x="5348288" y="14950559"/>
            <a:ext cx="10696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BD9C866-4EEF-162D-B49C-7E60AE1CAF0D}"/>
              </a:ext>
            </a:extLst>
          </p:cNvPr>
          <p:cNvSpPr/>
          <p:nvPr/>
        </p:nvSpPr>
        <p:spPr>
          <a:xfrm>
            <a:off x="9598209" y="5924828"/>
            <a:ext cx="3724374" cy="503696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PLD SYSTEM  OVERVIEW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D53D39F-674B-8C82-2E25-B2CB33E40ECF}"/>
              </a:ext>
            </a:extLst>
          </p:cNvPr>
          <p:cNvSpPr txBox="1"/>
          <p:nvPr/>
        </p:nvSpPr>
        <p:spPr>
          <a:xfrm>
            <a:off x="10789908" y="25980536"/>
            <a:ext cx="95980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Fig 3. </a:t>
            </a:r>
            <a:r>
              <a:rPr lang="en-US" sz="2000" dirty="0"/>
              <a:t>Characterization of the Nio thin film deposited by PLD: (a) SEM micrograph revealing the surface morphology of the deposited layer; (b) Dektak profilometric measurement showing the film thickness profile.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59585846-04CD-165B-260A-08F3487829E4}"/>
              </a:ext>
            </a:extLst>
          </p:cNvPr>
          <p:cNvSpPr/>
          <p:nvPr/>
        </p:nvSpPr>
        <p:spPr>
          <a:xfrm>
            <a:off x="10646294" y="22501196"/>
            <a:ext cx="10344864" cy="4473604"/>
          </a:xfrm>
          <a:prstGeom prst="roundRect">
            <a:avLst>
              <a:gd name="adj" fmla="val 4744"/>
            </a:avLst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9ADD809-8200-942E-21F3-BFD70B6BC8E7}"/>
              </a:ext>
            </a:extLst>
          </p:cNvPr>
          <p:cNvSpPr txBox="1"/>
          <p:nvPr/>
        </p:nvSpPr>
        <p:spPr>
          <a:xfrm>
            <a:off x="12963644" y="25566653"/>
            <a:ext cx="997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(a)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EAF708A-43F6-B9E9-6237-F013080F97A4}"/>
              </a:ext>
            </a:extLst>
          </p:cNvPr>
          <p:cNvSpPr txBox="1"/>
          <p:nvPr/>
        </p:nvSpPr>
        <p:spPr>
          <a:xfrm>
            <a:off x="17843434" y="25573540"/>
            <a:ext cx="997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(b)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E972B24-70D7-1A2D-6235-EA33EF655625}"/>
              </a:ext>
            </a:extLst>
          </p:cNvPr>
          <p:cNvSpPr/>
          <p:nvPr/>
        </p:nvSpPr>
        <p:spPr>
          <a:xfrm>
            <a:off x="10499681" y="22391914"/>
            <a:ext cx="10479024" cy="2497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4244A6E-DFAE-C311-A0A3-B9A79D73735B}"/>
              </a:ext>
            </a:extLst>
          </p:cNvPr>
          <p:cNvSpPr/>
          <p:nvPr/>
        </p:nvSpPr>
        <p:spPr>
          <a:xfrm>
            <a:off x="10660491" y="22431178"/>
            <a:ext cx="10323576" cy="495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508F8AB-DD67-3ED7-F264-DBEE360BA7EE}"/>
              </a:ext>
            </a:extLst>
          </p:cNvPr>
          <p:cNvSpPr/>
          <p:nvPr/>
        </p:nvSpPr>
        <p:spPr>
          <a:xfrm>
            <a:off x="10433309" y="22521806"/>
            <a:ext cx="595675" cy="2497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Imagem 7">
            <a:extLst>
              <a:ext uri="{FF2B5EF4-FFF2-40B4-BE49-F238E27FC236}">
                <a16:creationId xmlns:a16="http://schemas.microsoft.com/office/drawing/2014/main" id="{20DCCE24-8F9D-87E4-8863-590D60B2835E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6538" y="22671831"/>
            <a:ext cx="4337685" cy="287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Imagem 1">
            <a:extLst>
              <a:ext uri="{FF2B5EF4-FFF2-40B4-BE49-F238E27FC236}">
                <a16:creationId xmlns:a16="http://schemas.microsoft.com/office/drawing/2014/main" id="{AFD055CC-02A1-4160-4399-EFADBC82ED7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746"/>
          <a:stretch>
            <a:fillRect/>
          </a:stretch>
        </p:blipFill>
        <p:spPr bwMode="auto">
          <a:xfrm>
            <a:off x="15536937" y="22663077"/>
            <a:ext cx="4850992" cy="29451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7395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371</TotalTime>
  <Words>447</Words>
  <Application>Microsoft Office PowerPoint</Application>
  <PresentationFormat>Custom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 Moreira</dc:creator>
  <cp:lastModifiedBy>André Moreira</cp:lastModifiedBy>
  <cp:revision>4</cp:revision>
  <dcterms:created xsi:type="dcterms:W3CDTF">2026-06-29T16:06:06Z</dcterms:created>
  <dcterms:modified xsi:type="dcterms:W3CDTF">2026-06-30T13:51:49Z</dcterms:modified>
</cp:coreProperties>
</file>